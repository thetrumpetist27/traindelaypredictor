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2881" autoAdjust="0"/>
  </p:normalViewPr>
  <p:slideViewPr>
    <p:cSldViewPr snapToGrid="0">
      <p:cViewPr varScale="1">
        <p:scale>
          <a:sx n="80" d="100"/>
          <a:sy n="80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ED1C1E-458E-4372-9B69-BBC6AB1195CD}" type="datetimeFigureOut">
              <a:rPr lang="nl-NL" smtClean="0"/>
              <a:t>12-11-2025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93DB22-DFEA-4EC6-891C-3E763902E33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459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Why</a:t>
            </a:r>
            <a:r>
              <a:rPr lang="nl-NL" dirty="0"/>
              <a:t>?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3DB22-DFEA-4EC6-891C-3E763902E339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5566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NS </a:t>
            </a:r>
            <a:r>
              <a:rPr lang="nl-NL" dirty="0" err="1"/>
              <a:t>uses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European </a:t>
            </a:r>
            <a:r>
              <a:rPr lang="nl-NL" dirty="0" err="1"/>
              <a:t>Punctuality</a:t>
            </a:r>
            <a:r>
              <a:rPr lang="nl-NL" dirty="0"/>
              <a:t> Standard of 5 minutes delay</a:t>
            </a:r>
          </a:p>
          <a:p>
            <a:endParaRPr lang="nl-NL" dirty="0"/>
          </a:p>
          <a:p>
            <a:r>
              <a:rPr lang="nl-NL" dirty="0"/>
              <a:t>Multiple studies. None about more than 4 </a:t>
            </a:r>
            <a:r>
              <a:rPr lang="nl-NL" dirty="0" err="1"/>
              <a:t>hour</a:t>
            </a:r>
            <a:r>
              <a:rPr lang="nl-NL" dirty="0"/>
              <a:t> delay </a:t>
            </a:r>
            <a:r>
              <a:rPr lang="nl-NL" dirty="0" err="1"/>
              <a:t>prediction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 err="1"/>
              <a:t>Study</a:t>
            </a:r>
            <a:r>
              <a:rPr lang="nl-NL" dirty="0"/>
              <a:t> from </a:t>
            </a:r>
            <a:r>
              <a:rPr lang="nl-NL" dirty="0" err="1"/>
              <a:t>UTwente</a:t>
            </a:r>
            <a:r>
              <a:rPr lang="nl-NL" dirty="0"/>
              <a:t>. </a:t>
            </a:r>
            <a:r>
              <a:rPr lang="nl-NL" dirty="0" err="1"/>
              <a:t>suggests</a:t>
            </a:r>
            <a:r>
              <a:rPr lang="nl-NL" dirty="0"/>
              <a:t> </a:t>
            </a:r>
            <a:r>
              <a:rPr lang="nl-NL" dirty="0" err="1"/>
              <a:t>Historic</a:t>
            </a:r>
            <a:r>
              <a:rPr lang="nl-NL" dirty="0"/>
              <a:t> train </a:t>
            </a:r>
            <a:r>
              <a:rPr lang="nl-NL" dirty="0" err="1"/>
              <a:t>movements</a:t>
            </a:r>
            <a:r>
              <a:rPr lang="nl-NL" dirty="0"/>
              <a:t>. This </a:t>
            </a:r>
            <a:r>
              <a:rPr lang="nl-NL" dirty="0" err="1"/>
              <a:t>includes</a:t>
            </a:r>
            <a:r>
              <a:rPr lang="nl-NL" dirty="0"/>
              <a:t> </a:t>
            </a:r>
            <a:r>
              <a:rPr lang="nl-NL" dirty="0" err="1"/>
              <a:t>planned</a:t>
            </a:r>
            <a:r>
              <a:rPr lang="nl-NL" dirty="0"/>
              <a:t> and real </a:t>
            </a:r>
            <a:r>
              <a:rPr lang="nl-NL" dirty="0" err="1"/>
              <a:t>departure</a:t>
            </a:r>
            <a:r>
              <a:rPr lang="nl-NL" dirty="0"/>
              <a:t> and </a:t>
            </a:r>
            <a:r>
              <a:rPr lang="nl-NL" dirty="0" err="1"/>
              <a:t>arrival</a:t>
            </a:r>
            <a:r>
              <a:rPr lang="nl-NL" dirty="0"/>
              <a:t> </a:t>
            </a:r>
            <a:r>
              <a:rPr lang="nl-NL" dirty="0" err="1"/>
              <a:t>times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External</a:t>
            </a:r>
            <a:r>
              <a:rPr lang="nl-NL" dirty="0"/>
              <a:t> factors and </a:t>
            </a:r>
            <a:r>
              <a:rPr lang="nl-NL" dirty="0" err="1"/>
              <a:t>Weather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3DB22-DFEA-4EC6-891C-3E763902E339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000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Januari 2019 – august 2025</a:t>
            </a:r>
          </a:p>
          <a:p>
            <a:r>
              <a:rPr lang="nl-NL" dirty="0" err="1"/>
              <a:t>Sorted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data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would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include</a:t>
            </a:r>
            <a:r>
              <a:rPr lang="nl-NL" dirty="0"/>
              <a:t> </a:t>
            </a:r>
            <a:r>
              <a:rPr lang="nl-NL" dirty="0" err="1"/>
              <a:t>trains</a:t>
            </a:r>
            <a:r>
              <a:rPr lang="nl-NL" dirty="0"/>
              <a:t> passing </a:t>
            </a:r>
            <a:r>
              <a:rPr lang="nl-NL" dirty="0" err="1"/>
              <a:t>sittard</a:t>
            </a:r>
            <a:r>
              <a:rPr lang="nl-NL" dirty="0"/>
              <a:t> and </a:t>
            </a:r>
            <a:r>
              <a:rPr lang="nl-NL" dirty="0" err="1"/>
              <a:t>eindhoven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Null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, </a:t>
            </a:r>
            <a:r>
              <a:rPr lang="nl-NL" dirty="0" err="1"/>
              <a:t>especially</a:t>
            </a:r>
            <a:r>
              <a:rPr lang="nl-NL" dirty="0"/>
              <a:t> with </a:t>
            </a:r>
            <a:r>
              <a:rPr lang="nl-NL" dirty="0" err="1"/>
              <a:t>Arrival</a:t>
            </a:r>
            <a:r>
              <a:rPr lang="nl-NL" dirty="0"/>
              <a:t> and </a:t>
            </a:r>
            <a:r>
              <a:rPr lang="nl-NL" dirty="0" err="1"/>
              <a:t>Departure</a:t>
            </a:r>
            <a:r>
              <a:rPr lang="nl-NL" dirty="0"/>
              <a:t> time.</a:t>
            </a:r>
          </a:p>
          <a:p>
            <a:endParaRPr lang="nl-NL" dirty="0"/>
          </a:p>
          <a:p>
            <a:r>
              <a:rPr lang="nl-NL" dirty="0"/>
              <a:t>Found that </a:t>
            </a:r>
            <a:r>
              <a:rPr lang="nl-NL" dirty="0" err="1"/>
              <a:t>there</a:t>
            </a:r>
            <a:r>
              <a:rPr lang="nl-NL" dirty="0"/>
              <a:t> were a lot of non-standard stations in </a:t>
            </a:r>
            <a:r>
              <a:rPr lang="nl-NL" dirty="0" err="1"/>
              <a:t>the</a:t>
            </a:r>
            <a:r>
              <a:rPr lang="nl-NL" dirty="0"/>
              <a:t> dataset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3DB22-DFEA-4EC6-891C-3E763902E339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53341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Feature engineering. </a:t>
            </a:r>
          </a:p>
          <a:p>
            <a:endParaRPr lang="nl-NL" dirty="0"/>
          </a:p>
          <a:p>
            <a:r>
              <a:rPr lang="nl-NL" dirty="0" err="1"/>
              <a:t>Hour</a:t>
            </a:r>
            <a:r>
              <a:rPr lang="nl-NL" dirty="0"/>
              <a:t>, </a:t>
            </a:r>
            <a:r>
              <a:rPr lang="nl-NL" dirty="0" err="1"/>
              <a:t>Month</a:t>
            </a:r>
            <a:r>
              <a:rPr lang="nl-NL" dirty="0"/>
              <a:t>, rush </a:t>
            </a:r>
            <a:r>
              <a:rPr lang="nl-NL" dirty="0" err="1"/>
              <a:t>hour</a:t>
            </a:r>
            <a:r>
              <a:rPr lang="nl-NL" dirty="0"/>
              <a:t>.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3DB22-DFEA-4EC6-891C-3E763902E339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7840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Results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 display a </a:t>
            </a:r>
            <a:r>
              <a:rPr lang="nl-NL" dirty="0" err="1"/>
              <a:t>lack</a:t>
            </a:r>
            <a:r>
              <a:rPr lang="nl-NL" dirty="0"/>
              <a:t> of proper feature engineering.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3DB22-DFEA-4EC6-891C-3E763902E339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6618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Poor</a:t>
            </a:r>
            <a:r>
              <a:rPr lang="nl-NL" dirty="0"/>
              <a:t> data analysis.</a:t>
            </a:r>
          </a:p>
          <a:p>
            <a:endParaRPr lang="nl-NL" dirty="0"/>
          </a:p>
          <a:p>
            <a:r>
              <a:rPr lang="nl-NL" dirty="0" err="1"/>
              <a:t>Better</a:t>
            </a:r>
            <a:r>
              <a:rPr lang="nl-NL" dirty="0"/>
              <a:t> domain </a:t>
            </a:r>
            <a:r>
              <a:rPr lang="nl-NL" dirty="0" err="1"/>
              <a:t>understanding</a:t>
            </a:r>
            <a:r>
              <a:rPr lang="nl-NL" dirty="0"/>
              <a:t> would have </a:t>
            </a:r>
            <a:r>
              <a:rPr lang="nl-NL" dirty="0" err="1"/>
              <a:t>helped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3DB22-DFEA-4EC6-891C-3E763902E339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7494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8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05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80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11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47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234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54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58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81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542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59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28" r:id="rId6"/>
    <p:sldLayoutId id="2147483724" r:id="rId7"/>
    <p:sldLayoutId id="2147483725" r:id="rId8"/>
    <p:sldLayoutId id="2147483726" r:id="rId9"/>
    <p:sldLayoutId id="2147483727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NS: dinsdag geen treinen in groot deel Zuidwest-Nederland | Het Parool">
            <a:extLst>
              <a:ext uri="{FF2B5EF4-FFF2-40B4-BE49-F238E27FC236}">
                <a16:creationId xmlns:a16="http://schemas.microsoft.com/office/drawing/2014/main" id="{A2C716AB-5BDE-941C-88F6-CAD59A1F0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55" r="5972" b="-1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8002A48-8BEC-A5B7-3E36-CA6346FCC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nl-NL" sz="4800">
                <a:solidFill>
                  <a:schemeClr val="bg1"/>
                </a:solidFill>
              </a:rPr>
              <a:t>Train Delay Predictor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5600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E3ED910-979B-508F-0B2C-9AC32A060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36EA369-C517-71AE-A333-1FAED0106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6072" y="638176"/>
            <a:ext cx="11151471" cy="5581648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80C1AD-8416-EEC2-E3FC-A6A726BED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31992" y="272416"/>
            <a:ext cx="128016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FBF0A1D-9212-3A9E-8A6F-4A2CBD56B151}"/>
              </a:ext>
            </a:extLst>
          </p:cNvPr>
          <p:cNvSpPr txBox="1"/>
          <p:nvPr/>
        </p:nvSpPr>
        <p:spPr>
          <a:xfrm>
            <a:off x="2859024" y="2551837"/>
            <a:ext cx="64739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 now, the NS app only shows if a train currently has any delays or not. </a:t>
            </a:r>
          </a:p>
          <a:p>
            <a:r>
              <a:rPr lang="en-US" dirty="0"/>
              <a:t>With this project I want to be able to predict if a train on a certain track will be more likely to be delayed or not. </a:t>
            </a:r>
          </a:p>
          <a:p>
            <a:r>
              <a:rPr lang="en-US" dirty="0"/>
              <a:t>My goal is to remove the annoyance of getting on the station and finding out your train is delayed for some time.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21689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48628E-A2B1-4C4C-A809-68C895CF1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Explainable</a:t>
            </a:r>
            <a:r>
              <a:rPr lang="nl-NL" dirty="0"/>
              <a:t> AI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67A30B6-FA26-A59E-58B6-63A15ADA5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Definition of delay</a:t>
            </a:r>
          </a:p>
          <a:p>
            <a:r>
              <a:rPr lang="en-GB" noProof="0" dirty="0"/>
              <a:t>What is being done</a:t>
            </a:r>
          </a:p>
          <a:p>
            <a:r>
              <a:rPr lang="en-GB" noProof="0" dirty="0"/>
              <a:t>What kind of data do </a:t>
            </a:r>
            <a:r>
              <a:rPr lang="en-GB" dirty="0"/>
              <a:t>I need</a:t>
            </a:r>
          </a:p>
        </p:txBody>
      </p:sp>
    </p:spTree>
    <p:extLst>
      <p:ext uri="{BB962C8B-B14F-4D97-AF65-F5344CB8AC3E}">
        <p14:creationId xmlns:p14="http://schemas.microsoft.com/office/powerpoint/2010/main" val="2278290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8468727-63BE-4191-B4A6-C30C82C0E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D18E5CC-0C99-E996-480E-EDD87CE3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12454"/>
            <a:ext cx="2381250" cy="2101850"/>
          </a:xfrm>
        </p:spPr>
        <p:txBody>
          <a:bodyPr>
            <a:normAutofit/>
          </a:bodyPr>
          <a:lstStyle/>
          <a:p>
            <a:r>
              <a:rPr lang="nl-NL" sz="2800"/>
              <a:t>DAIA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355BB6-1BB8-4828-B246-CFB31742D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3483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52A9B9-B2B3-46F0-9D53-0EFF9905B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202180" y="1457218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DD90BE-0F2A-D2B7-128D-488C6D08C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8772" y="412454"/>
            <a:ext cx="3272028" cy="2101850"/>
          </a:xfrm>
        </p:spPr>
        <p:txBody>
          <a:bodyPr anchor="ctr">
            <a:normAutofit/>
          </a:bodyPr>
          <a:lstStyle/>
          <a:p>
            <a:r>
              <a:rPr lang="nl-NL" sz="1800"/>
              <a:t>Sittard &amp; Eindhoven</a:t>
            </a:r>
          </a:p>
          <a:p>
            <a:r>
              <a:rPr lang="nl-NL" sz="1800"/>
              <a:t>Null Values</a:t>
            </a:r>
          </a:p>
          <a:p>
            <a:r>
              <a:rPr lang="nl-NL" sz="1800"/>
              <a:t>Non standard stations</a:t>
            </a:r>
          </a:p>
        </p:txBody>
      </p:sp>
      <p:pic>
        <p:nvPicPr>
          <p:cNvPr id="9" name="Afbeelding 8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59E5E554-22EB-AFB2-EA8A-D05E3AC7AC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1254"/>
            <a:ext cx="5182811" cy="4346874"/>
          </a:xfrm>
          <a:prstGeom prst="rect">
            <a:avLst/>
          </a:prstGeom>
        </p:spPr>
      </p:pic>
      <p:pic>
        <p:nvPicPr>
          <p:cNvPr id="11" name="Afbeelding 10" descr="Afbeelding met tekst, schermopname, Parallel, Rechthoek&#10;&#10;Door AI gegenereerde inhoud is mogelijk onjuist.">
            <a:extLst>
              <a:ext uri="{FF2B5EF4-FFF2-40B4-BE49-F238E27FC236}">
                <a16:creationId xmlns:a16="http://schemas.microsoft.com/office/drawing/2014/main" id="{E748EC7F-90B4-53FE-D85B-B792E559AE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707" y="0"/>
            <a:ext cx="79240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4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07CAB8-4ED5-F9E8-2B73-554F4CB51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Machine Learning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525DA1-08D6-33C5-1B90-9E3D3A0EB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41929"/>
            <a:ext cx="10168128" cy="3694176"/>
          </a:xfrm>
        </p:spPr>
        <p:txBody>
          <a:bodyPr/>
          <a:lstStyle/>
          <a:p>
            <a:r>
              <a:rPr lang="nl-NL" dirty="0"/>
              <a:t>Feature engineering</a:t>
            </a:r>
          </a:p>
          <a:p>
            <a:r>
              <a:rPr lang="nl-NL" dirty="0"/>
              <a:t>RF, XGB, LGBM, DT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67786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ijdelijke aanduiding voor inhoud 3">
            <a:extLst>
              <a:ext uri="{FF2B5EF4-FFF2-40B4-BE49-F238E27FC236}">
                <a16:creationId xmlns:a16="http://schemas.microsoft.com/office/drawing/2014/main" id="{B129FAB9-20B2-4129-938C-4C0A5B188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5146021"/>
              </p:ext>
            </p:extLst>
          </p:nvPr>
        </p:nvGraphicFramePr>
        <p:xfrm>
          <a:off x="1012032" y="2501900"/>
          <a:ext cx="1016793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587">
                  <a:extLst>
                    <a:ext uri="{9D8B030D-6E8A-4147-A177-3AD203B41FA5}">
                      <a16:colId xmlns:a16="http://schemas.microsoft.com/office/drawing/2014/main" val="1039008642"/>
                    </a:ext>
                  </a:extLst>
                </a:gridCol>
                <a:gridCol w="2033587">
                  <a:extLst>
                    <a:ext uri="{9D8B030D-6E8A-4147-A177-3AD203B41FA5}">
                      <a16:colId xmlns:a16="http://schemas.microsoft.com/office/drawing/2014/main" val="1158947118"/>
                    </a:ext>
                  </a:extLst>
                </a:gridCol>
                <a:gridCol w="2033587">
                  <a:extLst>
                    <a:ext uri="{9D8B030D-6E8A-4147-A177-3AD203B41FA5}">
                      <a16:colId xmlns:a16="http://schemas.microsoft.com/office/drawing/2014/main" val="22313389"/>
                    </a:ext>
                  </a:extLst>
                </a:gridCol>
                <a:gridCol w="2033587">
                  <a:extLst>
                    <a:ext uri="{9D8B030D-6E8A-4147-A177-3AD203B41FA5}">
                      <a16:colId xmlns:a16="http://schemas.microsoft.com/office/drawing/2014/main" val="3431406869"/>
                    </a:ext>
                  </a:extLst>
                </a:gridCol>
                <a:gridCol w="2033587">
                  <a:extLst>
                    <a:ext uri="{9D8B030D-6E8A-4147-A177-3AD203B41FA5}">
                      <a16:colId xmlns:a16="http://schemas.microsoft.com/office/drawing/2014/main" val="2996966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Accuracy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Precision 0 - 1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Recall</a:t>
                      </a:r>
                      <a:r>
                        <a:rPr lang="nl-NL" dirty="0"/>
                        <a:t> 0 - 1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F1 0 - 1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618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Random </a:t>
                      </a:r>
                      <a:r>
                        <a:rPr lang="nl-NL" dirty="0" err="1"/>
                        <a:t>Forest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0.957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1.000 – 0.368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0.957 – 0.992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0.978 – 0.536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329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XGBoost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1.000 – 0.366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0.956 – 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0.977 – 0.536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061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LightGBM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1.000 – 0.366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0.956 – 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0.977 – 0.536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82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Decision</a:t>
                      </a:r>
                      <a:r>
                        <a:rPr lang="nl-NL" dirty="0"/>
                        <a:t>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1.000 – 0.366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0.956 – 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0.977 – 0.536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231014"/>
                  </a:ext>
                </a:extLst>
              </a:tr>
            </a:tbl>
          </a:graphicData>
        </a:graphic>
      </p:graphicFrame>
      <p:sp>
        <p:nvSpPr>
          <p:cNvPr id="5" name="Tekstvak 4">
            <a:extLst>
              <a:ext uri="{FF2B5EF4-FFF2-40B4-BE49-F238E27FC236}">
                <a16:creationId xmlns:a16="http://schemas.microsoft.com/office/drawing/2014/main" id="{37386051-9028-5652-F118-B9908F00DFE3}"/>
              </a:ext>
            </a:extLst>
          </p:cNvPr>
          <p:cNvSpPr txBox="1"/>
          <p:nvPr/>
        </p:nvSpPr>
        <p:spPr>
          <a:xfrm>
            <a:off x="709863" y="785010"/>
            <a:ext cx="2705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0 = Non-</a:t>
            </a:r>
            <a:r>
              <a:rPr lang="nl-NL" dirty="0" err="1"/>
              <a:t>delayed</a:t>
            </a:r>
            <a:endParaRPr lang="nl-NL" dirty="0"/>
          </a:p>
          <a:p>
            <a:r>
              <a:rPr lang="nl-NL" dirty="0"/>
              <a:t>1 = </a:t>
            </a:r>
            <a:r>
              <a:rPr lang="nl-NL" dirty="0" err="1"/>
              <a:t>Delayed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08175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4560F1-6774-1CED-2955-160736440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Reflection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D3AF42-6423-4063-FAF2-B48D53353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More thorough data analysis</a:t>
            </a:r>
          </a:p>
          <a:p>
            <a:r>
              <a:rPr lang="en-GB" dirty="0"/>
              <a:t>Domain Understanding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80597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454446-5E8B-73EF-6F75-475C4580A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NS: dinsdag geen treinen in groot deel Zuidwest-Nederland | Het Parool">
            <a:extLst>
              <a:ext uri="{FF2B5EF4-FFF2-40B4-BE49-F238E27FC236}">
                <a16:creationId xmlns:a16="http://schemas.microsoft.com/office/drawing/2014/main" id="{31ADF986-24AE-9703-46E4-8823A39FD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55" r="5972" b="-1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960AE2-0AEC-7E2D-6C9D-7C5722960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nl-NL" sz="4800">
                <a:solidFill>
                  <a:schemeClr val="bg1"/>
                </a:solidFill>
              </a:rPr>
              <a:t>Train Delay Predictor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397328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306</Words>
  <Application>Microsoft Office PowerPoint</Application>
  <PresentationFormat>Breedbeeld</PresentationFormat>
  <Paragraphs>73</Paragraphs>
  <Slides>8</Slides>
  <Notes>6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Neue Haas Grotesk Text Pro</vt:lpstr>
      <vt:lpstr>AccentBoxVTI</vt:lpstr>
      <vt:lpstr>Train Delay Predictor</vt:lpstr>
      <vt:lpstr>PowerPoint-presentatie</vt:lpstr>
      <vt:lpstr>Explainable AI</vt:lpstr>
      <vt:lpstr>DAIA</vt:lpstr>
      <vt:lpstr>Machine Learning</vt:lpstr>
      <vt:lpstr>PowerPoint-presentatie</vt:lpstr>
      <vt:lpstr>Reflection</vt:lpstr>
      <vt:lpstr>Train Delay Predictor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Bruyenberg,Kian K.</dc:creator>
  <cp:lastModifiedBy>Bruyenberg,Kian K.</cp:lastModifiedBy>
  <cp:revision>2</cp:revision>
  <dcterms:created xsi:type="dcterms:W3CDTF">2025-11-12T18:12:47Z</dcterms:created>
  <dcterms:modified xsi:type="dcterms:W3CDTF">2025-11-12T22:58:22Z</dcterms:modified>
</cp:coreProperties>
</file>